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96EBB-7F2B-417D-B09A-92AF0D3A3B25}" v="235" dt="2026-03-17T16:42:03.703"/>
    <p1510:client id="{D8AD23E0-1666-44E3-886B-E6EFD9C8DF4F}" v="101" dt="2026-03-18T07:49:47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88755-05B4-4396-A9C0-9DD9C4C5615D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C29FB-AD7D-410B-B79E-041D0D8F9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8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3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1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7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7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8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2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00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80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7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63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9488877-5733-3F16-FC39-9D8C5ADE65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-1222007" y="1560582"/>
            <a:ext cx="13962362" cy="71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spAutoFit/>
          </a:bodyPr>
          <a:lstStyle/>
          <a:p>
            <a:pPr algn="r">
              <a:lnSpc>
                <a:spcPct val="100000"/>
              </a:lnSpc>
              <a:spcAft>
                <a:spcPct val="0"/>
              </a:spcAft>
            </a:pPr>
            <a:r>
              <a:rPr lang="en-US" sz="4000" b="1" dirty="0">
                <a:ea typeface="+mj-lt"/>
                <a:cs typeface="+mj-lt"/>
              </a:rPr>
              <a:t>Purchase Pattern Analytics</a:t>
            </a:r>
            <a:endParaRPr lang="en-US" sz="4000" b="1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733E52D-251C-1441-5B8B-61C097CDAB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9905" y="2284863"/>
            <a:ext cx="4936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Gender, Age, Category &amp; Payment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3AB52-D9E5-1C3A-B1AF-1E5383DA0F9A}"/>
              </a:ext>
            </a:extLst>
          </p:cNvPr>
          <p:cNvSpPr txBox="1"/>
          <p:nvPr/>
        </p:nvSpPr>
        <p:spPr>
          <a:xfrm>
            <a:off x="7848600" y="5380672"/>
            <a:ext cx="4343400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Prepared by: </a:t>
            </a:r>
            <a:r>
              <a:rPr lang="en-US" b="1" dirty="0"/>
              <a:t>Akshay Rathod and Vinayak Chaudhari</a:t>
            </a:r>
          </a:p>
          <a:p>
            <a:r>
              <a:rPr lang="en-US" dirty="0"/>
              <a:t>Project ID:</a:t>
            </a:r>
            <a:r>
              <a:rPr lang="en-US" b="1" dirty="0"/>
              <a:t>PTID-CDA-DEC-25-970</a:t>
            </a:r>
          </a:p>
          <a:p>
            <a:r>
              <a:rPr lang="en-US" dirty="0"/>
              <a:t>Tool Used: SQL , Python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1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1266671-9B3E-2136-ABF1-0E94A64FC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65200" y="363288"/>
            <a:ext cx="25785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6E16E18-D3B6-08C1-6079-E52EB951F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22" y="3238544"/>
            <a:ext cx="21082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2E4F397-BAF1-7213-21F7-D844E10F8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678" y="5556952"/>
            <a:ext cx="49359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– Data Modeling &amp; Dashboarding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 – KPI &amp; Measure calculations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F6DA7F-A604-31A9-A7C0-1D7D5C4B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22" y="833339"/>
            <a:ext cx="27622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 of the Project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6DF5A3-83C2-6DCB-EE99-FBCBA324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563" y="3566409"/>
            <a:ext cx="6207148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 ➤ </a:t>
            </a:r>
            <a:r>
              <a:rPr kumimoji="0" lang="en-US" sz="200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Time Period: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December 2010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– </a:t>
            </a:r>
            <a:r>
              <a:rPr lang="en-US" sz="2000" dirty="0">
                <a:ea typeface="+mn-lt"/>
                <a:cs typeface="+mn-lt"/>
              </a:rPr>
              <a:t>December 2011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Data Source: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Online Retail Transaction Dataset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Dataset includes: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 ➤ Transaction ID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(</a:t>
            </a:r>
            <a:r>
              <a:rPr lang="en-US" b="1" dirty="0" err="1">
                <a:ea typeface="+mn-lt"/>
                <a:cs typeface="+mn-lt"/>
              </a:rPr>
              <a:t>BillNo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)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Product </a:t>
            </a:r>
            <a:r>
              <a:rPr lang="en-US" sz="2000" dirty="0">
                <a:ea typeface="+mn-lt"/>
                <a:cs typeface="+mn-lt"/>
              </a:rPr>
              <a:t>name (</a:t>
            </a:r>
            <a:r>
              <a:rPr lang="en-US" b="1" dirty="0" err="1">
                <a:ea typeface="+mn-lt"/>
                <a:cs typeface="+mn-lt"/>
              </a:rPr>
              <a:t>Itemname</a:t>
            </a:r>
            <a:r>
              <a:rPr lang="en-US" sz="2000" dirty="0">
                <a:ea typeface="+mn-lt"/>
                <a:cs typeface="+mn-lt"/>
              </a:rPr>
              <a:t>)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Quantity </a:t>
            </a:r>
            <a:r>
              <a:rPr lang="en-US" sz="2000" dirty="0">
                <a:ea typeface="+mn-lt"/>
                <a:cs typeface="+mn-lt"/>
              </a:rPr>
              <a:t>of products purchased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Purchase date and time ( </a:t>
            </a:r>
            <a:r>
              <a:rPr lang="en-US" b="1" dirty="0" err="1">
                <a:ea typeface="+mn-lt"/>
                <a:cs typeface="+mn-lt"/>
              </a:rPr>
              <a:t>Present_Date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)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Product price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Customer ID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➤ Customer country</a:t>
            </a:r>
            <a:endParaRPr lang="en-US" sz="2000"/>
          </a:p>
          <a:p>
            <a:pPr marL="285750" marR="0" lvl="0" indent="-28575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B7CB9-DB38-97B5-A1F7-4BA9799360B1}"/>
              </a:ext>
            </a:extLst>
          </p:cNvPr>
          <p:cNvSpPr txBox="1"/>
          <p:nvPr/>
        </p:nvSpPr>
        <p:spPr>
          <a:xfrm>
            <a:off x="6100417" y="537616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FDB33-1D61-EBD0-A422-0FF6708810FA}"/>
              </a:ext>
            </a:extLst>
          </p:cNvPr>
          <p:cNvSpPr txBox="1"/>
          <p:nvPr/>
        </p:nvSpPr>
        <p:spPr>
          <a:xfrm>
            <a:off x="433457" y="2383419"/>
            <a:ext cx="244928" cy="258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1C4F-2329-6806-60B3-F4DE9D6B22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1199" y="1295557"/>
            <a:ext cx="9693515" cy="1940957"/>
          </a:xfrm>
          <a:prstGeom prst="roundRect">
            <a:avLst/>
          </a:prstGeom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ea typeface="+mn-lt"/>
                <a:cs typeface="+mn-lt"/>
              </a:rPr>
              <a:t> ➤ </a:t>
            </a:r>
            <a:r>
              <a:rPr lang="en-US" sz="1600" dirty="0">
                <a:ea typeface="+mn-lt"/>
                <a:cs typeface="+mn-lt"/>
              </a:rPr>
              <a:t>T</a:t>
            </a:r>
            <a:r>
              <a:rPr lang="en-US" sz="1800" dirty="0">
                <a:ea typeface="+mn-lt"/>
                <a:cs typeface="+mn-lt"/>
              </a:rPr>
              <a:t>o analyze customer purchase patterns in retail transactions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➤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To identify </a:t>
            </a:r>
            <a:r>
              <a:rPr lang="en-US" sz="1800" dirty="0">
                <a:ea typeface="+mn-lt"/>
                <a:cs typeface="+mn-lt"/>
              </a:rPr>
              <a:t>frequently purchased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product </a:t>
            </a:r>
            <a:r>
              <a:rPr lang="en-US" sz="1800" dirty="0">
                <a:ea typeface="+mn-lt"/>
                <a:cs typeface="+mn-lt"/>
              </a:rPr>
              <a:t>combinations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➤ To perform Market Basket Analysis using the  </a:t>
            </a:r>
            <a:r>
              <a:rPr lang="en-US" sz="1800" dirty="0" err="1">
                <a:ea typeface="+mn-lt"/>
                <a:cs typeface="+mn-lt"/>
              </a:rPr>
              <a:t>apriori</a:t>
            </a:r>
            <a:r>
              <a:rPr lang="en-US" sz="1800" dirty="0">
                <a:ea typeface="+mn-lt"/>
                <a:cs typeface="+mn-lt"/>
              </a:rPr>
              <a:t> algorithm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➤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To </a:t>
            </a:r>
            <a:r>
              <a:rPr lang="en-US" sz="1800" dirty="0">
                <a:ea typeface="+mn-lt"/>
                <a:cs typeface="+mn-lt"/>
              </a:rPr>
              <a:t>understand relationships between products purchased together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➤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To </a:t>
            </a:r>
            <a:r>
              <a:rPr lang="en-US" sz="1800" dirty="0">
                <a:ea typeface="+mn-lt"/>
                <a:cs typeface="+mn-lt"/>
              </a:rPr>
              <a:t>generate data-driven recommendations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for </a:t>
            </a:r>
            <a:r>
              <a:rPr lang="en-US" sz="1800" dirty="0">
                <a:ea typeface="+mn-lt"/>
                <a:cs typeface="+mn-lt"/>
              </a:rPr>
              <a:t>cross-selling and product bundling</a:t>
            </a:r>
            <a:endParaRPr lang="en-US" sz="1800"/>
          </a:p>
          <a:p>
            <a:pPr marR="0" lvl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43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805B86C-014E-8F8D-C721-966412CDA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9773" y="140841"/>
            <a:ext cx="2133918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Tools Used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7EF5DB2-55DC-AD6A-72E8-33E9DEE5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7172" y="217461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F6572-9E6C-0A89-9755-E6729311F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2" y="3205441"/>
            <a:ext cx="1169554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  Expected Outcome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 ➤ Identify </a:t>
            </a:r>
            <a:r>
              <a:rPr lang="en-US" b="1" dirty="0">
                <a:ea typeface="+mn-lt"/>
                <a:cs typeface="+mn-lt"/>
              </a:rPr>
              <a:t>frequent </a:t>
            </a:r>
            <a:r>
              <a:rPr lang="en-US" b="1" dirty="0" err="1">
                <a:ea typeface="+mn-lt"/>
                <a:cs typeface="+mn-lt"/>
              </a:rPr>
              <a:t>itemsets</a:t>
            </a:r>
            <a:r>
              <a:rPr lang="en-US" dirty="0">
                <a:ea typeface="+mn-lt"/>
                <a:cs typeface="+mn-lt"/>
              </a:rPr>
              <a:t> purchased together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➤ Discover </a:t>
            </a:r>
            <a:r>
              <a:rPr lang="en-US" b="1" dirty="0">
                <a:ea typeface="+mn-lt"/>
                <a:cs typeface="+mn-lt"/>
              </a:rPr>
              <a:t>association rules between products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➤ Provide business recommendations for product bundling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 ➤ Improve sales strategies and customer experience</a:t>
            </a:r>
            <a:endParaRPr lang="en-US" dirty="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/>
                <a:cs typeface="Arial"/>
              </a:rPr>
              <a:t> </a:t>
            </a:r>
            <a:endParaRPr lang="en-US" altLang="en-US" sz="1800" b="1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EE98C95-F01F-35CF-C9D4-90B1449C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90" y="63584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81C74-A796-A442-BACB-CEA3961F5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" y="655359"/>
            <a:ext cx="11272015" cy="55546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   ➤ </a:t>
            </a:r>
            <a:r>
              <a:rPr lang="en-US" b="1" dirty="0">
                <a:ea typeface="+mn-lt"/>
                <a:cs typeface="+mn-lt"/>
              </a:rPr>
              <a:t>SQL (MySQL)</a:t>
            </a:r>
            <a:r>
              <a:rPr lang="en-US" dirty="0">
                <a:ea typeface="+mn-lt"/>
                <a:cs typeface="+mn-lt"/>
              </a:rPr>
              <a:t> – Data extraction and cleaning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➤ </a:t>
            </a:r>
            <a:r>
              <a:rPr lang="en-US" b="1" dirty="0">
                <a:ea typeface="+mn-lt"/>
                <a:cs typeface="+mn-lt"/>
              </a:rPr>
              <a:t>Python (Pandas, Matplotlib, Seaborn)</a:t>
            </a:r>
            <a:r>
              <a:rPr lang="en-US" dirty="0">
                <a:ea typeface="+mn-lt"/>
                <a:cs typeface="+mn-lt"/>
              </a:rPr>
              <a:t> – Data analysis and visualization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➤ </a:t>
            </a:r>
            <a:r>
              <a:rPr lang="en-US" b="1" dirty="0" err="1">
                <a:ea typeface="+mn-lt"/>
                <a:cs typeface="+mn-lt"/>
              </a:rPr>
              <a:t>MLxtend</a:t>
            </a:r>
            <a:r>
              <a:rPr lang="en-US" b="1" dirty="0">
                <a:ea typeface="+mn-lt"/>
                <a:cs typeface="+mn-lt"/>
              </a:rPr>
              <a:t> Library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dirty="0" err="1">
                <a:ea typeface="+mn-lt"/>
                <a:cs typeface="+mn-lt"/>
              </a:rPr>
              <a:t>Apriori</a:t>
            </a:r>
            <a:r>
              <a:rPr lang="en-US" dirty="0">
                <a:ea typeface="+mn-lt"/>
                <a:cs typeface="+mn-lt"/>
              </a:rPr>
              <a:t> algorithm implementation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➤ </a:t>
            </a:r>
            <a:r>
              <a:rPr lang="en-US" b="1" dirty="0" err="1">
                <a:ea typeface="+mn-lt"/>
                <a:cs typeface="+mn-lt"/>
              </a:rPr>
              <a:t>Jupyter</a:t>
            </a:r>
            <a:r>
              <a:rPr lang="en-US" b="1" dirty="0">
                <a:ea typeface="+mn-lt"/>
                <a:cs typeface="+mn-lt"/>
              </a:rPr>
              <a:t> Notebook</a:t>
            </a:r>
            <a:r>
              <a:rPr lang="en-US" dirty="0">
                <a:ea typeface="+mn-lt"/>
                <a:cs typeface="+mn-lt"/>
              </a:rPr>
              <a:t> – Analysis and experimentation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➤ </a:t>
            </a:r>
            <a:r>
              <a:rPr lang="en-US" b="1" dirty="0">
                <a:ea typeface="+mn-lt"/>
                <a:cs typeface="+mn-lt"/>
              </a:rPr>
              <a:t>PowerPoint</a:t>
            </a:r>
            <a:r>
              <a:rPr lang="en-US" dirty="0">
                <a:ea typeface="+mn-lt"/>
                <a:cs typeface="+mn-lt"/>
              </a:rPr>
              <a:t> – Presentation of insights</a:t>
            </a:r>
            <a:endParaRPr lang="en-US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96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BCE3ED65-D04F-6724-71FD-860F9DCE6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40403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043928-5A0F-28C5-C58A-0691AD329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662" y="372311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62A82AA-5775-2B71-63EC-8AD3710CF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011" y="5959669"/>
            <a:ext cx="79325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5F2E68-7482-AA60-8CF8-38E3A6B64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401" y="3693387"/>
            <a:ext cx="60026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EB43725-DB32-8189-47C2-C77F8860D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7184" y="204050"/>
            <a:ext cx="20954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Aft>
                <a:spcPct val="0"/>
              </a:spcAft>
            </a:pPr>
            <a:r>
              <a:rPr lang="en-US" sz="1800">
                <a:ea typeface="+mj-lt"/>
                <a:cs typeface="+mj-lt"/>
              </a:rPr>
              <a:t>View the Dataset</a:t>
            </a:r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BB94B-3407-34B0-322F-C9D27C52C103}"/>
              </a:ext>
            </a:extLst>
          </p:cNvPr>
          <p:cNvSpPr txBox="1"/>
          <p:nvPr/>
        </p:nvSpPr>
        <p:spPr>
          <a:xfrm>
            <a:off x="3728140" y="3054491"/>
            <a:ext cx="3038511" cy="3803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Arial"/>
                <a:cs typeface="Arial"/>
              </a:rPr>
              <a:t>Total Rows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8DA91-0AFB-9D72-5E81-342CAD9F9FC8}"/>
              </a:ext>
            </a:extLst>
          </p:cNvPr>
          <p:cNvSpPr txBox="1"/>
          <p:nvPr/>
        </p:nvSpPr>
        <p:spPr>
          <a:xfrm>
            <a:off x="304662" y="4560116"/>
            <a:ext cx="609755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ptos Display"/>
                <a:cs typeface="Arial"/>
              </a:rPr>
              <a:t>No Missing Value Are Present In </a:t>
            </a:r>
            <a:r>
              <a:rPr lang="en-US" altLang="en-US" b="1">
                <a:latin typeface="Aptos Display"/>
                <a:cs typeface="Arial"/>
              </a:rPr>
              <a:t>Data Set</a:t>
            </a:r>
            <a:endParaRPr lang="en-US" altLang="en-US" sz="1800" b="1" i="0" u="none" strike="noStrike" cap="none" normalizeH="0" baseline="0">
              <a:ln>
                <a:noFill/>
              </a:ln>
              <a:effectLst/>
              <a:latin typeface="Aptos Display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2B95E-3980-4F9A-6A59-304DA443FCEF}"/>
              </a:ext>
            </a:extLst>
          </p:cNvPr>
          <p:cNvSpPr txBox="1"/>
          <p:nvPr/>
        </p:nvSpPr>
        <p:spPr>
          <a:xfrm>
            <a:off x="304662" y="3049526"/>
            <a:ext cx="245320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Aptos Display"/>
                <a:cs typeface="Arial"/>
              </a:rPr>
              <a:t>Total Transaction</a:t>
            </a:r>
            <a:endParaRPr lang="en-US" altLang="en-US" sz="1800" b="1" i="0" u="none" strike="noStrike" cap="none" normalizeH="0" baseline="0">
              <a:ln>
                <a:noFill/>
              </a:ln>
              <a:effectLst/>
              <a:latin typeface="Aptos Display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576A0-72B8-8F26-40B6-3F916F0CFAD1}"/>
              </a:ext>
            </a:extLst>
          </p:cNvPr>
          <p:cNvSpPr txBox="1"/>
          <p:nvPr/>
        </p:nvSpPr>
        <p:spPr>
          <a:xfrm>
            <a:off x="3728140" y="3641245"/>
            <a:ext cx="609755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</a:p>
        </p:txBody>
      </p:sp>
      <p:pic>
        <p:nvPicPr>
          <p:cNvPr id="2" name="Picture 1" descr="A screenshot of a data&#10;&#10;AI-generated content may be incorrect.">
            <a:extLst>
              <a:ext uri="{FF2B5EF4-FFF2-40B4-BE49-F238E27FC236}">
                <a16:creationId xmlns:a16="http://schemas.microsoft.com/office/drawing/2014/main" id="{859312A6-75B5-CEF2-8609-7A90BC75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74" y="578403"/>
            <a:ext cx="10057295" cy="226667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B1223A-1660-EB17-03DB-09EA3BE15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92" y="3550132"/>
            <a:ext cx="2141468" cy="773733"/>
          </a:xfrm>
          <a:prstGeom prst="rect">
            <a:avLst/>
          </a:prstGeom>
        </p:spPr>
      </p:pic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9E2AA6B5-8593-C1F4-BA06-D4D50A3EC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757" y="3548408"/>
            <a:ext cx="2504660" cy="77718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96D330-D972-3447-BB47-5171EB428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93" y="4937816"/>
            <a:ext cx="5963753" cy="1731064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760700-63E1-033A-13A6-2473C48F1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772" y="3500161"/>
            <a:ext cx="3743325" cy="2486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3AEA2D-3F87-9856-1F22-45AE49E9F934}"/>
              </a:ext>
            </a:extLst>
          </p:cNvPr>
          <p:cNvSpPr txBox="1"/>
          <p:nvPr/>
        </p:nvSpPr>
        <p:spPr>
          <a:xfrm>
            <a:off x="6842815" y="3052338"/>
            <a:ext cx="32929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Frequency of </a:t>
            </a:r>
            <a:r>
              <a:rPr lang="en-US" b="1" dirty="0" err="1">
                <a:latin typeface="Arial"/>
                <a:cs typeface="Arial"/>
              </a:rPr>
              <a:t>Iteam</a:t>
            </a:r>
            <a:endParaRPr lang="en-US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737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2491B9F-F59E-69D7-C6F2-821A1DDBB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1909" y="176356"/>
            <a:ext cx="217559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Aft>
                <a:spcPct val="0"/>
              </a:spcAft>
            </a:pPr>
            <a:r>
              <a:rPr lang="en-US" sz="2000" dirty="0" err="1">
                <a:latin typeface="Arial"/>
                <a:ea typeface="+mj-lt"/>
                <a:cs typeface="Arial"/>
              </a:rPr>
              <a:t>Apriori</a:t>
            </a:r>
            <a:r>
              <a:rPr lang="en-US" sz="2000" dirty="0">
                <a:latin typeface="Arial"/>
                <a:ea typeface="+mj-lt"/>
                <a:cs typeface="Arial"/>
              </a:rPr>
              <a:t> Insi</a:t>
            </a:r>
            <a:r>
              <a:rPr lang="en-US" sz="2000" dirty="0">
                <a:latin typeface="Arial"/>
                <a:cs typeface="Arial"/>
              </a:rPr>
              <a:t>ght :-</a:t>
            </a:r>
            <a:br>
              <a:rPr lang="en-US" sz="2000" dirty="0">
                <a:latin typeface="Arial"/>
                <a:cs typeface="Arial"/>
              </a:rPr>
            </a:br>
            <a:br>
              <a:rPr lang="en-US" sz="2000" dirty="0">
                <a:latin typeface="Arial"/>
                <a:cs typeface="Arial"/>
              </a:rPr>
            </a:br>
            <a:endParaRPr lang="en-US" sz="2000" dirty="0">
              <a:latin typeface="Arial"/>
              <a:cs typeface="Arial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6F5D699-B6FA-D976-1098-EDE387773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46" y="277378"/>
            <a:ext cx="578107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000" b="1" dirty="0">
              <a:latin typeface="Aptos Display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000" b="1" dirty="0">
              <a:latin typeface="Aptos Display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134 frequent </a:t>
            </a:r>
            <a:r>
              <a:rPr lang="en-US" sz="2000" b="1">
                <a:latin typeface="Aptos Display"/>
                <a:ea typeface="+mn-lt"/>
                <a:cs typeface="+mn-lt"/>
              </a:rPr>
              <a:t>item sets</a:t>
            </a:r>
            <a:r>
              <a:rPr lang="en-US" sz="2000" b="1" dirty="0">
                <a:latin typeface="Aptos Display"/>
                <a:ea typeface="+mn-lt"/>
                <a:cs typeface="+mn-lt"/>
              </a:rPr>
              <a:t> found</a:t>
            </a:r>
            <a:endParaRPr lang="en-US" sz="2000" b="1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endParaRPr lang="en-US" sz="2000" b="1" dirty="0">
              <a:latin typeface="Aptos Display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Aptos Display"/>
                <a:ea typeface="+mn-lt"/>
                <a:cs typeface="+mn-lt"/>
              </a:rPr>
              <a:t>1936 association rules</a:t>
            </a:r>
            <a:r>
              <a:rPr lang="en-US" sz="2000" b="1" dirty="0">
                <a:latin typeface="Aptos Display"/>
                <a:ea typeface="+mn-lt"/>
                <a:cs typeface="+mn-lt"/>
              </a:rPr>
              <a:t> </a:t>
            </a:r>
            <a:r>
              <a:rPr lang="en-US" sz="2000" b="1">
                <a:latin typeface="Aptos Display"/>
                <a:ea typeface="+mn-lt"/>
                <a:cs typeface="+mn-lt"/>
              </a:rPr>
              <a:t>generated</a:t>
            </a:r>
            <a:endParaRPr lang="en-US" sz="2000" b="1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endParaRPr lang="en-US" sz="2000" b="1" dirty="0">
              <a:latin typeface="Aptos Display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Lift = 9.25 — very strong product associations!</a:t>
            </a:r>
            <a:endParaRPr lang="en-US" sz="2000" b="1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endParaRPr lang="en-US" sz="2000" b="1" dirty="0">
              <a:latin typeface="Aptos Display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Aptos Display"/>
                <a:ea typeface="+mn-lt"/>
                <a:cs typeface="+mn-lt"/>
              </a:rPr>
              <a:t>Confidence = 1.0 — 100% certainty on top rules</a:t>
            </a:r>
            <a:endParaRPr lang="en-US" sz="2000" b="1">
              <a:latin typeface="Aptos Display"/>
            </a:endParaRPr>
          </a:p>
          <a:p>
            <a:pPr marL="285750" lvl="0" indent="-285750" algn="l" defTabSz="914400">
              <a:lnSpc>
                <a:spcPct val="100000"/>
              </a:lnSpc>
              <a:buFont typeface="Arial"/>
              <a:buChar char="•"/>
              <a:tabLst/>
            </a:pPr>
            <a:endParaRPr lang="en-US" sz="2000" b="1" dirty="0">
              <a:latin typeface="Aptos Display"/>
            </a:endParaRPr>
          </a:p>
          <a:p>
            <a:pPr marR="0" lvl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i="0" u="none" strike="noStrike" cap="none" normalizeH="0" baseline="0" dirty="0">
              <a:ln>
                <a:noFill/>
              </a:ln>
              <a:effectLst/>
              <a:latin typeface="Aptos Display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D11849-7BE0-F594-777A-BA781EE1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56208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9C4F6D-F4C2-4960-720F-E1D705754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64589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/>
              <a:cs typeface="Arial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562490-D534-A3AE-371C-0529BF20770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4855357" y="5260230"/>
            <a:ext cx="268419" cy="8174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40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AD7C75A-4F3E-B575-2259-0E2724506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6233" y="250177"/>
            <a:ext cx="30572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spcAft>
                <a:spcPct val="0"/>
              </a:spcAft>
            </a:pPr>
            <a:r>
              <a:rPr lang="en-US" sz="2000">
                <a:ea typeface="+mj-lt"/>
                <a:cs typeface="+mj-lt"/>
              </a:rPr>
              <a:t>Top products bar chart</a:t>
            </a:r>
            <a:endParaRPr lang="en-US" sz="200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6AA264-1DA0-5B31-A749-DEA068DA1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233" y="883009"/>
            <a:ext cx="805861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Category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 is the highest revenue-generating category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Shoes and Technology are strong secondary contributors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such as Books and Souvenirs contribute relatively less revenue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preference varies across different age groups and genders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6CD7479-8CBC-7084-6BAA-9F1D6E0F9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33" y="3716443"/>
            <a:ext cx="88986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Method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 is the most preferred payment method overall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card usage is high among middle-aged 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preferences vary by age group and gender, indicating a clear relationship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8F5131-2D3D-80AC-E25E-AF8F12A6A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37" y="6151687"/>
            <a:ext cx="102643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b="1">
                <a:ea typeface="+mn-lt"/>
                <a:cs typeface="+mn-lt"/>
              </a:rPr>
              <a:t>WHITE HANGING HEART T-LIGHT HOLDER</a:t>
            </a:r>
            <a:r>
              <a:rPr lang="en-US">
                <a:ea typeface="+mn-lt"/>
                <a:cs typeface="+mn-lt"/>
              </a:rPr>
              <a:t> is the #1 most bought product (support ~0.19)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5AB0E6-7FAA-EE20-35E3-5D7C97E9C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4154"/>
            <a:ext cx="12192000" cy="488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6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8FBCCF7-6501-021A-CE6B-3F6CEDD56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57502"/>
            <a:ext cx="4040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BUSINESS RECOMMENDATIONS</a:t>
            </a:r>
            <a:r>
              <a:rPr lang="en-US" altLang="en-US" sz="1800">
                <a:latin typeface="Arial"/>
                <a:cs typeface="Arial"/>
              </a:rPr>
              <a:t> :-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4A6E60-93C2-A05B-540E-792B34A834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0032" y="3519824"/>
            <a:ext cx="57492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6BDB01-DFD3-7926-FFC8-895AC6459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35487"/>
              </p:ext>
            </p:extLst>
          </p:nvPr>
        </p:nvGraphicFramePr>
        <p:xfrm>
          <a:off x="176695" y="1192695"/>
          <a:ext cx="10205301" cy="3378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06227">
                  <a:extLst>
                    <a:ext uri="{9D8B030D-6E8A-4147-A177-3AD203B41FA5}">
                      <a16:colId xmlns:a16="http://schemas.microsoft.com/office/drawing/2014/main" val="2746799619"/>
                    </a:ext>
                  </a:extLst>
                </a:gridCol>
                <a:gridCol w="4397306">
                  <a:extLst>
                    <a:ext uri="{9D8B030D-6E8A-4147-A177-3AD203B41FA5}">
                      <a16:colId xmlns:a16="http://schemas.microsoft.com/office/drawing/2014/main" val="3582812186"/>
                    </a:ext>
                  </a:extLst>
                </a:gridCol>
                <a:gridCol w="3401768">
                  <a:extLst>
                    <a:ext uri="{9D8B030D-6E8A-4147-A177-3AD203B41FA5}">
                      <a16:colId xmlns:a16="http://schemas.microsoft.com/office/drawing/2014/main" val="1004192150"/>
                    </a:ext>
                  </a:extLst>
                </a:gridCol>
              </a:tblGrid>
              <a:tr h="5011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Based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313077"/>
                  </a:ext>
                </a:extLst>
              </a:tr>
              <a:tr h="466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Bundle top associated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Lift = 9.25, Confidence = 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137720"/>
                  </a:ext>
                </a:extLst>
              </a:tr>
              <a:tr h="466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Optimize store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Co-purchase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44270"/>
                  </a:ext>
                </a:extLst>
              </a:tr>
              <a:tr h="544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Cross-sell 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 association rules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5126"/>
                  </a:ext>
                </a:extLst>
              </a:tr>
              <a:tr h="466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UK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90.77% revenue from UK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260033"/>
                  </a:ext>
                </a:extLst>
              </a:tr>
              <a:tr h="466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Stock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 demand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324869"/>
                  </a:ext>
                </a:extLst>
              </a:tr>
              <a:tr h="466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Expand international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France/Australia only 9.23%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61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00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CDFEC95-95B9-5CF0-B182-70BE811E9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4374" y="147501"/>
            <a:ext cx="17363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93A6F-1B62-F8BE-6598-C585EF3A1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103" y="341153"/>
            <a:ext cx="12188958" cy="6208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1800" b="1" dirty="0"/>
          </a:p>
          <a:p>
            <a:pPr>
              <a:buFont typeface="Arial" panose="05000000000000000000" pitchFamily="2" charset="2"/>
              <a:buChar char="•"/>
            </a:pPr>
            <a:r>
              <a:rPr lang="en-US" sz="1800" dirty="0">
                <a:ea typeface="+mn-lt"/>
                <a:cs typeface="+mn-lt"/>
              </a:rPr>
              <a:t>This project successfully implemented a complete end-to-end data analytics pipeline on a retail transaction dataset using SQL, Python, the </a:t>
            </a:r>
            <a:r>
              <a:rPr lang="en-US" sz="1800" dirty="0" err="1">
                <a:ea typeface="+mn-lt"/>
                <a:cs typeface="+mn-lt"/>
              </a:rPr>
              <a:t>Apriori</a:t>
            </a:r>
            <a:r>
              <a:rPr lang="en-US" sz="1800" dirty="0">
                <a:ea typeface="+mn-lt"/>
                <a:cs typeface="+mn-lt"/>
              </a:rPr>
              <a:t> algorithm, and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Power BI</a:t>
            </a:r>
            <a:r>
              <a:rPr lang="en-US" sz="1800" dirty="0">
                <a:ea typeface="+mn-lt"/>
                <a:cs typeface="+mn-lt"/>
              </a:rPr>
              <a:t>. Over four weeks, the team performed exploratory data analysis, data cleaning, market basket analysis, and interactive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 dashboard </a:t>
            </a:r>
            <a:r>
              <a:rPr lang="en-US" sz="1800" dirty="0">
                <a:ea typeface="+mn-lt"/>
                <a:cs typeface="+mn-lt"/>
              </a:rPr>
              <a:t>development to extract meaningful business insights from 400 transactions across 26 customers.</a:t>
            </a:r>
            <a:endParaRPr lang="en-US" dirty="0"/>
          </a:p>
          <a:p>
            <a:pPr>
              <a:buFont typeface="Arial" panose="05000000000000000000" pitchFamily="2" charset="2"/>
              <a:buChar char="•"/>
            </a:pPr>
            <a:r>
              <a:rPr lang="en-US" sz="1800">
                <a:ea typeface="+mn-lt"/>
                <a:cs typeface="+mn-lt"/>
              </a:rPr>
              <a:t>➤ United Kingdom dominates sales with 90.77% of total revenue ($13.83K out of $15.24K total), followed 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by </a:t>
            </a:r>
            <a:r>
              <a:rPr lang="en-US" sz="1800">
                <a:ea typeface="+mn-lt"/>
                <a:cs typeface="+mn-lt"/>
              </a:rPr>
              <a:t>France, Australia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, </a:t>
            </a:r>
            <a:r>
              <a:rPr lang="en-US" sz="1800">
                <a:ea typeface="+mn-lt"/>
                <a:cs typeface="+mn-lt"/>
              </a:rPr>
              <a:t>and Netherlands.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800">
                <a:ea typeface="+mn-lt"/>
                <a:cs typeface="+mn-lt"/>
              </a:rPr>
              <a:t>➤ CHILLI LIGHTS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, </a:t>
            </a:r>
            <a:r>
              <a:rPr lang="en-US" sz="1800">
                <a:ea typeface="+mn-lt"/>
                <a:cs typeface="+mn-lt"/>
              </a:rPr>
              <a:t>LIGHT GARLAND BUTTERFILES PINK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, and </a:t>
            </a:r>
            <a:r>
              <a:rPr lang="en-US" sz="1800">
                <a:ea typeface="+mn-lt"/>
                <a:cs typeface="+mn-lt"/>
              </a:rPr>
              <a:t>WOODEN OWLS LIGHT GARLAND were the top 3 revenue-generating products.</a:t>
            </a:r>
            <a:endParaRPr lang="en-US"/>
          </a:p>
          <a:p>
            <a:pPr lvl="0" algn="l" defTabSz="914400">
              <a:buClrTx/>
              <a:buSzTx/>
              <a:buFont typeface="Arial" panose="05000000000000000000" pitchFamily="2" charset="2"/>
              <a:buChar char="•"/>
              <a:tabLst/>
            </a:pPr>
            <a:r>
              <a:rPr lang="en-US" sz="1800" b="1">
                <a:ea typeface="+mn-lt"/>
                <a:cs typeface="+mn-lt"/>
              </a:rPr>
              <a:t>Dashboard: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800">
                <a:ea typeface="+mn-lt"/>
                <a:cs typeface="+mn-lt"/>
              </a:rPr>
              <a:t>An interactive Power BI </a:t>
            </a: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dashboard </a:t>
            </a:r>
            <a:r>
              <a:rPr lang="en-US" sz="1800">
                <a:ea typeface="+mn-lt"/>
                <a:cs typeface="+mn-lt"/>
              </a:rPr>
              <a:t>was developed visualizing total revenue ($15.24K), transactions (37), customers (26), and unique items (286) with dynamic country filtering for stakeholder decision making.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800" b="1">
                <a:ea typeface="+mn-lt"/>
                <a:cs typeface="+mn-lt"/>
              </a:rPr>
              <a:t>Business Impact: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kumimoji="0" lang="en-US" sz="18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The </a:t>
            </a:r>
            <a:r>
              <a:rPr lang="en-US" sz="1800">
                <a:ea typeface="+mn-lt"/>
                <a:cs typeface="+mn-lt"/>
              </a:rPr>
              <a:t>insights provide actionable recommendations for product bundling, store layout, cross-selling, and targeted marketing — helping the business increase average order value and maximize revenue.</a:t>
            </a:r>
            <a:endParaRPr lang="en-US"/>
          </a:p>
          <a:p>
            <a:pPr marR="0" lvl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92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3381-3221-A37B-D5AA-43EFA914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7023256" y="-450493"/>
            <a:ext cx="327926" cy="999133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7" name="Content Placeholder 6" descr="A screenshot of a diagram&#10;&#10;AI-generated content may be incorrect.">
            <a:extLst>
              <a:ext uri="{FF2B5EF4-FFF2-40B4-BE49-F238E27FC236}">
                <a16:creationId xmlns:a16="http://schemas.microsoft.com/office/drawing/2014/main" id="{36770230-070B-1A52-9B7F-CF985F404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952" y="6584"/>
            <a:ext cx="12556430" cy="681902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652FE-8E1E-0174-9C28-AE458244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2C57-C4E8-41BE-A0BF-0F5C3F0E03AD}" type="datetime1">
              <a:t>3/18/2026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E4F65-9535-F2C1-5EBD-4CF773D3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66924-E249-FF2F-13C0-C2F8E41A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536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552</Words>
  <Application>Microsoft Office PowerPoint</Application>
  <PresentationFormat>Widescreen</PresentationFormat>
  <Paragraphs>112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VanillaVTI</vt:lpstr>
      <vt:lpstr>Purchase Pattern Analytics</vt:lpstr>
      <vt:lpstr>PROJECT OVERVIEW</vt:lpstr>
      <vt:lpstr>Tools Used </vt:lpstr>
      <vt:lpstr>View the Dataset</vt:lpstr>
      <vt:lpstr>Apriori Insight :-  </vt:lpstr>
      <vt:lpstr>Top products bar chart</vt:lpstr>
      <vt:lpstr>BUSINESS RECOMMENDATIONS :-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Rathod</dc:creator>
  <cp:lastModifiedBy>Akshay Rathod</cp:lastModifiedBy>
  <cp:revision>332</cp:revision>
  <dcterms:created xsi:type="dcterms:W3CDTF">2025-12-17T14:39:41Z</dcterms:created>
  <dcterms:modified xsi:type="dcterms:W3CDTF">2026-03-18T07:50:34Z</dcterms:modified>
</cp:coreProperties>
</file>